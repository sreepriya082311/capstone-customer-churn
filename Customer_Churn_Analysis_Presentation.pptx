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731520"/>
            <a:ext cx="1920240" cy="1920240"/>
          </a:xfrm>
          <a:prstGeom prst="ellipse">
            <a:avLst/>
          </a:prstGeom>
          <a:solidFill>
            <a:srgbClr val="2A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371600" cy="137160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2926080"/>
            <a:ext cx="2560320" cy="2560320"/>
          </a:xfrm>
          <a:prstGeom prst="ellipse">
            <a:avLst/>
          </a:prstGeom>
          <a:solidFill>
            <a:srgbClr val="244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58952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CUSTOMER CHURN</a:t>
            </a:r>
            <a:br/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7680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900" b="0">
                <a:solidFill>
                  <a:srgbClr val="CADCEF"/>
                </a:solidFill>
                <a:latin typeface="Aptos"/>
              </a:defRPr>
            </a:pPr>
            <a:r>
              <a:t>Telecommunications | Python • MySQL •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Capstone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ADCEF"/>
                </a:solidFill>
                <a:latin typeface="Aptos"/>
              </a:defRPr>
            </a:pPr>
            <a:r>
              <a:t>Prepared for academic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Understanding customer churn and identifying patterns that can support retention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1B998B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80060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162B4B"/>
                </a:solidFill>
                <a:latin typeface="Aptos"/>
              </a:defRPr>
            </a:pPr>
            <a:r>
              <a:t>Customer churn reduces recurring revenue and can increase the cost of acquiring replacement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1B998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166360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Clean and validate the telecom customer dataset using Python.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 SQL to answer business questions and create reusable views.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Build an interactive Power BI dashboard for churn analysis.</a:t>
            </a:r>
          </a:p>
          <a:p>
            <a:pPr>
              <a:spcAft>
                <a:spcPts val="12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Summarize findings and practical retention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Telco Customer Churn dataset used throughout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23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0008"/>
            <a:ext cx="2093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2A67AF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93392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50008"/>
            <a:ext cx="2093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B998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23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93392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CHURNED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50008"/>
            <a:ext cx="2093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EFB144"/>
                </a:solidFill>
                <a:latin typeface="Aptos"/>
              </a:defRPr>
            </a:pPr>
            <a:r>
              <a:t>1,869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828800"/>
            <a:ext cx="24231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993392"/>
            <a:ext cx="2093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RETAINED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350008"/>
            <a:ext cx="2093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2A67AF"/>
                </a:solidFill>
                <a:latin typeface="Aptos"/>
              </a:defRPr>
            </a:pPr>
            <a:r>
              <a:t>5,174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24528"/>
            <a:ext cx="10698480" cy="1600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Customer profile: gender, senior citizen, dependents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Services: internet, phone, online security, tech support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Account details: contract, payment method, tenure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Charges and outcome: MonthlyCharges, TotalCharges,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End-to-End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Three tools connected in a single analytics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0632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548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000" b="1">
                <a:solidFill>
                  <a:srgbClr val="2A67A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16352"/>
            <a:ext cx="2651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100" b="1">
                <a:solidFill>
                  <a:srgbClr val="162B4B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37560"/>
            <a:ext cx="26517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Load CSV</a:t>
            </a:r>
            <a:br/>
            <a:r>
              <a:t>Clean data</a:t>
            </a:r>
            <a:br/>
            <a:r>
              <a:t>EDA &amp; derived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944368"/>
            <a:ext cx="457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5F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148840"/>
            <a:ext cx="30632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331720"/>
            <a:ext cx="548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000" b="1">
                <a:solidFill>
                  <a:srgbClr val="1B9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816352"/>
            <a:ext cx="2651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100" b="1">
                <a:solidFill>
                  <a:srgbClr val="162B4B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337560"/>
            <a:ext cx="26517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Import cleaned table</a:t>
            </a:r>
            <a:br/>
            <a:r>
              <a:t>Business SQL questions</a:t>
            </a:r>
            <a:br/>
            <a:r>
              <a:t>Reusable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944368"/>
            <a:ext cx="457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5F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48840"/>
            <a:ext cx="30632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331720"/>
            <a:ext cx="548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000" b="1">
                <a:solidFill>
                  <a:srgbClr val="EFB14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816352"/>
            <a:ext cx="2651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100" b="1">
                <a:solidFill>
                  <a:srgbClr val="162B4B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337560"/>
            <a:ext cx="26517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DAX measures</a:t>
            </a:r>
            <a:br/>
            <a:r>
              <a:t>Interactive visuals</a:t>
            </a:r>
            <a:br/>
            <a:r>
              <a:t>Two-page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900" b="1">
                <a:solidFill>
                  <a:srgbClr val="162B4B"/>
                </a:solidFill>
                <a:latin typeface="Aptos"/>
              </a:defRPr>
            </a:pPr>
            <a:r>
              <a:t>Output: a repeatable workflow from raw customer data to decision-ready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Python: Data Preparation &amp;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Pandas and NumPy were used in the Jupyter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3886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Loaded the original CSV and reviewed rows, columns, data types and summary statistics.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Checked missing values and duplicate records.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Handled blank TotalCharges values and converted the field to numeric format.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Created a TenureGroup column to compare customers by tenure band.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Reviewed potential outliers in MonthlyCharges and TotalCharges using the IQR method.</a:t>
            </a:r>
          </a:p>
          <a:p>
            <a:pPr>
              <a:spcAft>
                <a:spcPts val="11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Calculated churn counts, churn rate and average tenure by churn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332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1B998B"/>
                </a:solidFill>
                <a:latin typeface="Aptos"/>
              </a:defRPr>
            </a:pPr>
            <a:r>
              <a:t>Data quality note: outliers were reviewed rather than automatically removed.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MySQL: Business Questions &amp;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The cleaned dataset was imported into the customer_churn_analysis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603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22311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BUSINESS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50008"/>
            <a:ext cx="223113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2A67A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5603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993392"/>
            <a:ext cx="22311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REUSABLE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350008"/>
            <a:ext cx="223113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B99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28800"/>
            <a:ext cx="25603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993392"/>
            <a:ext cx="22311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MAIN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2350008"/>
            <a:ext cx="223113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EFB144"/>
                </a:solidFill>
                <a:latin typeface="Aptos"/>
              </a:defRPr>
            </a:pPr>
            <a:r>
              <a:t>cleaned_customer_churn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Analysis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332720" cy="1600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Churn counts and churn percentage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Contract type, internet service and payment method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Tenure groups, senior citizen status and monthly charges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JOINs, aggregation, subqueries and a ranking window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Descriptive insights from the customer churn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93392"/>
            <a:ext cx="2962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OVERALL CHURN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0008"/>
            <a:ext cx="29626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EFB144"/>
                </a:solidFill>
                <a:latin typeface="Aptos"/>
              </a:defRPr>
            </a:pPr>
            <a:r>
              <a:t>26.54%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98648"/>
            <a:ext cx="2962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1,869 of 7,043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93392"/>
            <a:ext cx="2962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AVERAGE TENURE: CHURNED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50008"/>
            <a:ext cx="29626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2A67AF"/>
                </a:solidFill>
                <a:latin typeface="Aptos"/>
              </a:defRPr>
            </a:pPr>
            <a:r>
              <a:t>17.98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898648"/>
            <a:ext cx="2962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Compared with retained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993392"/>
            <a:ext cx="29626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5F7084"/>
                </a:solidFill>
                <a:latin typeface="Aptos"/>
              </a:defRPr>
            </a:pPr>
            <a:r>
              <a:t>AVERAGE TENURE: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50008"/>
            <a:ext cx="29626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B998B"/>
                </a:solidFill>
                <a:latin typeface="Aptos"/>
              </a:defRPr>
            </a:pPr>
            <a:r>
              <a:t>37.57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898648"/>
            <a:ext cx="29626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Longer average customer tenure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What these results suggest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042416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Churned customers have substantially shorter average tenure.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Contract and service-level comparisons help identify segments to investigate.</a:t>
            </a:r>
          </a:p>
          <a:p>
            <a:pPr>
              <a:spcAft>
                <a:spcPts val="9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The dashboard allows users to filter results and explore patterns by customer attributes.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Power BI: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Two report pages support both overview and detailed segment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3063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2A67AF"/>
                </a:solidFill>
                <a:latin typeface="Aptos"/>
              </a:defRPr>
            </a:pPr>
            <a:r>
              <a:t>PAGE 1 —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5262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5 KPI cards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Contract, payment and churn slicers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Churn by contract, tenure group and payment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074920" cy="3063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21408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B998B"/>
                </a:solidFill>
                <a:latin typeface="Aptos"/>
              </a:defRPr>
            </a:pPr>
            <a:r>
              <a:t>PAGE 2 — DETAILED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5262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Contract, payment and churn slicers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Internet service and senior citizen comparisons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Tech support and average monthly 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>
                <a:solidFill>
                  <a:srgbClr val="162B4B"/>
                </a:solidFill>
                <a:latin typeface="Aptos"/>
              </a:defRPr>
            </a:pPr>
            <a:r>
              <a:t>DAX measures include Total Customers, Churned Customers, Retained Customers, Churn Rate, Average Monthly Charges and Average Tenure.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162B4B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5F7084"/>
                </a:solidFill>
                <a:latin typeface="Aptos"/>
              </a:defRPr>
            </a:pPr>
            <a:r>
              <a:t>Potential actions for a telecom retention team to investigate.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5F70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2A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2938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01368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Prioritize early-tenure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01368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Explore onboarding support and early-life check-ins.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34639"/>
            <a:ext cx="566928" cy="566928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8094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52927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Review contract-related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52927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Compare month-to-month customers with longer-term plans.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86200"/>
            <a:ext cx="566928" cy="566928"/>
          </a:xfrm>
          <a:prstGeom prst="ellipse">
            <a:avLst/>
          </a:prstGeom>
          <a:solidFill>
            <a:srgbClr val="2A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03250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904487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Improve service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904487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Investigate whether tech support and security services relate to retention.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937759"/>
            <a:ext cx="566928" cy="566928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08406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56047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Use targeted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56047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relevant retention offers and monitor churn rate over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5F7084"/>
                </a:solidFill>
                <a:latin typeface="Aptos"/>
              </a:defRPr>
            </a:pPr>
            <a:r>
              <a:t>Recommendations should be validated with business context and ongoing monitoring.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44652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5F7084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8755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200" b="1">
                <a:solidFill>
                  <a:srgbClr val="E1EBF6"/>
                </a:solidFill>
                <a:latin typeface="Aptos"/>
              </a:defRPr>
            </a:pPr>
            <a:r>
              <a:t>This project combines data preparation, SQL analysis and interactive reporting to make customer churn patterns easier to explore.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6FDBCB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5486400" cy="2240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Python notebook (.ipynb)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MySQL script (.sql)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Power BI dashboard (.pbix)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Project report (PDF)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Presentation (PPTX)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657600"/>
            <a:ext cx="3200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43484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>
                <a:solidFill>
                  <a:srgbClr val="CADCE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CADCEF"/>
                </a:solidFill>
                <a:latin typeface="Aptos"/>
              </a:defRPr>
            </a:pPr>
            <a:r>
              <a:t>Customer Churn Analysis |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